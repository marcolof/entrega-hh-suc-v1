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3317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HH SUC · DOCUMENTACIÓN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432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1 vs. Propuesta 2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297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 posibles para la entrega de piezas en sucursal, en igualdad de jerarquía: ninguno está descartado todavía.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394960"/>
            <a:ext cx="1161288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3949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5394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95728" y="5394960"/>
            <a:ext cx="147675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95728" y="5394960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37076" y="5394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9684" y="5394960"/>
            <a:ext cx="147675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29684" y="5394960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2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5394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63640" y="5394960"/>
            <a:ext cx="147675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5394960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60120"/>
            <a:ext cx="2540203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60120"/>
            <a:ext cx="25402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ESTA PRESENTACIÓN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5087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recorre este instructivo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4028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recorrido compara las dos propuestas documentadas en </a:t>
            </a:r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"Dos ideas como propuestas"</a:t>
            </a:r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diagrama de proceso de referencia, sin dar ninguna por elegida.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452360" y="1508760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16952" y="150876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cambio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52360" y="2112264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952" y="2112264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1 — Usuario nominal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2715768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16952" y="2715768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2 — Usuarios genéricos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52360" y="3319272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16952" y="331927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16952" y="3922776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y desventajas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52360" y="4526280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16952" y="452628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abiertas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144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417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está organizada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bloques, del contexto a las preguntas que todavía faltan resolver.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514600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67919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1363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447288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plantea el cambio.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9976" y="2514600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562856" y="267919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62856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31363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1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3447288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web, usuario nominal.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82712" y="2514600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22" name="Shape 20"/>
          <p:cNvSpPr/>
          <p:nvPr/>
        </p:nvSpPr>
        <p:spPr>
          <a:xfrm>
            <a:off x="8165592" y="267919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65592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65592" y="31363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2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3447288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genéricos por sucursal.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443984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27" name="Shape 25"/>
          <p:cNvSpPr/>
          <p:nvPr/>
        </p:nvSpPr>
        <p:spPr>
          <a:xfrm>
            <a:off x="960120" y="460857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012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" y="506577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flujo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5376672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 la Propuesta 2 hoy.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79976" y="4443984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32" name="Shape 30"/>
          <p:cNvSpPr/>
          <p:nvPr/>
        </p:nvSpPr>
        <p:spPr>
          <a:xfrm>
            <a:off x="4562856" y="460857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62856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62856" y="506577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4562856" y="5376672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y desventajas de cada una.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982712" y="4443984"/>
            <a:ext cx="3401568" cy="1728216"/>
          </a:xfrm>
          <a:prstGeom prst="roundRect">
            <a:avLst>
              <a:gd name="adj" fmla="val 3704"/>
            </a:avLst>
          </a:prstGeom>
          <a:solidFill>
            <a:srgbClr val="F2F2F2"/>
          </a:solidFill>
          <a:ln/>
        </p:spPr>
      </p:sp>
      <p:sp>
        <p:nvSpPr>
          <p:cNvPr id="37" name="Shape 35"/>
          <p:cNvSpPr/>
          <p:nvPr/>
        </p:nvSpPr>
        <p:spPr>
          <a:xfrm>
            <a:off x="8165592" y="460857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65592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165592" y="506577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abiertas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8165592" y="5376672"/>
            <a:ext cx="30358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falta definir.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468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está evaluando cambiar la forma de entregar piezas en sucursal.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actual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60120"/>
            <a:ext cx="1940357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60120"/>
            <a:ext cx="1940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MOTIVACIÓN DEL CAMBIO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5087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gestión hoy se hace en dos sistemas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entrega se registra bajo un usuario genérico que no permite identificar al operador. Si se declara una gestión con HH que no se hizo, la novedad no llega a Track&amp;Trace y la pieza queda sin gestión de entrega.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365760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7947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motivación proviene de un documento de la etapa inicial del proceso, hoy </a:t>
            </a:r>
            <a:pPr indent="0" marL="0">
              <a:lnSpc>
                <a:spcPct val="130000"/>
              </a:lnSpc>
              <a:buNone/>
            </a:pPr>
            <a:r>
              <a:rPr lang="en-US" sz="1150" b="1" i="1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deprecado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fuente de verdad. No se usa para derivar requisitos, pero sigue siendo la mejor explicación disponible del problema de negocio.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52360" y="1508760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952" y="1508760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proceso, dos sistemas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2157984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16952" y="2157984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 individual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52360" y="2807208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16952" y="2807208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sin detección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468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para PC o Tablet, con identificación individual del operador.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60120"/>
            <a:ext cx="209031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60120"/>
            <a:ext cx="20903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IDENTIFICACIÓN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5087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 y contraseña nominales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4028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ingresa con su cuenta individual, no con un usuario compartido de sucursal.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32004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20040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52360" y="1508760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952" y="1508760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gestión queda atribuida a una persona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2157984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16952" y="2157984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ABM de usuarios con unidad de negocio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52360" y="2807208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16952" y="2807208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ABM de roles y perfiles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2540203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14400"/>
            <a:ext cx="25402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6 PASOS DE LA PROPUESTA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credencial al RDU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231343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7706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081528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credenciales individuales.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79976" y="2148840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62856" y="231343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27706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3081528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ingresa y se abre el formulario.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82712" y="2148840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65592" y="2313432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65592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165592" y="27706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165592" y="3081528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firma y texto.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" y="442569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0120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488289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Envío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60120" y="5193792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completa y se envía.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79976" y="4261104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31" name="Shape 29"/>
          <p:cNvSpPr/>
          <p:nvPr/>
        </p:nvSpPr>
        <p:spPr>
          <a:xfrm>
            <a:off x="4562856" y="442569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62856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62856" y="488289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T&amp;T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562856" y="5193792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el estado de entrega.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982712" y="4261104"/>
            <a:ext cx="3401568" cy="1911096"/>
          </a:xfrm>
          <a:prstGeom prst="roundRect">
            <a:avLst>
              <a:gd name="adj" fmla="val 3349"/>
            </a:avLst>
          </a:prstGeom>
          <a:solidFill>
            <a:srgbClr val="F2F2F2"/>
          </a:solidFill>
          <a:ln/>
        </p:spPr>
      </p:sp>
      <p:sp>
        <p:nvSpPr>
          <p:cNvPr id="36" name="Shape 34"/>
          <p:cNvSpPr/>
          <p:nvPr/>
        </p:nvSpPr>
        <p:spPr>
          <a:xfrm>
            <a:off x="8165592" y="4425696"/>
            <a:ext cx="365760" cy="365760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165592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165592" y="4882896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RDU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165592" y="5193792"/>
            <a:ext cx="30358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como el actual.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Precondiciones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60120"/>
            <a:ext cx="261518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60120"/>
            <a:ext cx="2615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 FALTA ANTES DE OPERAR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5087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Precondiciones y prerrequisitos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4028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 exige infraestructura de administración antes de poder usarse, y depende de hardware y conectividad en cada puesto.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52360" y="150876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16952" y="150876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usuarios por unidad de negocio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52360" y="210312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952" y="21031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roles y perfiles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269748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16952" y="269748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y colector de firma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52360" y="329184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16952" y="329184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 permanente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468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2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genéricos múltiples por unidad de negocio, sobre el dispositivo móvil actual.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flujo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3140050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14400"/>
            <a:ext cx="31400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"EL PROCESO SERÍA EL MISMO AL ACTUAL"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opera hoy, según el diagrama de referencia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874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 2 declara que replica el proceso actual. El diagrama del proceso tentativo documenta exactamente esa mecánica.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2F2F2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569464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 recibido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92608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 de negocio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423160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97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218688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2F2F2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8416" y="2569464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envían N tareas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92608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usuario genérico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2423160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97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660136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2F2F2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9864" y="2569464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usuario se loguea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769864" y="292608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bajan todas las tareas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08976" y="2423160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97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101584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2F2F2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11312" y="2569464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 y envía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11312" y="292608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puntual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639312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7D6"/>
          </a:solidFill>
          <a:ln w="15875">
            <a:solidFill>
              <a:srgbClr val="FFCE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374904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Anula las otras N-1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40690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nuevo, obligatorio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599432"/>
            <a:ext cx="106070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978408" y="4690872"/>
            <a:ext cx="10195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Bifurcación del diagrama: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confirmar la entrega, ¿se envía novedad de baja de stock? El diagrama contempla ambas ramas; la regla que decide cuándo aplica cada una no está definida.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" y="5532120"/>
            <a:ext cx="7680960" cy="457200"/>
          </a:xfrm>
          <a:prstGeom prst="roundRect">
            <a:avLst>
              <a:gd name="adj" fmla="val 50000"/>
            </a:avLst>
          </a:prstGeom>
          <a:solidFill>
            <a:srgbClr val="FFF7D6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0120" y="5532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El diagrama está rotulado "PROCESO TENTATIVO": describe intención de proceso, no reglas confirmadas.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60120"/>
            <a:ext cx="3290011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60120"/>
            <a:ext cx="32900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HARDWARE NUEVO, CON RIESGOS PROPIOS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5087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exige y qué reconoce como limitante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231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comprar equipamiento: reutiliza los dispositivos móviles existentes y trabaja offline. A cambio, el propio documento fuente declara seis limitantes — ninguna beneficio.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52360" y="1508760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16952" y="1508760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 dispositivos móviles (HH)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52360" y="2157984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952" y="2157984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 de conectividad permanente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2807208"/>
            <a:ext cx="39776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16952" y="2807208"/>
            <a:ext cx="3685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00" b="1" dirty="0">
                <a:solidFill>
                  <a:srgbClr val="152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 que ya conoce el operador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468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y desventajas de cada propuesta, en sus propios términos.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Ventajas y desventajas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144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A CARA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es gratis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5166360" cy="4160520"/>
          </a:xfrm>
          <a:prstGeom prst="roundRect">
            <a:avLst>
              <a:gd name="adj" fmla="val 1758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3272" y="230428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26700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97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 NOMINAL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3108960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individual completa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349300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riesgo de doble entrega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3877056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línea con T&amp;T, sin tareas pendientes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" y="4370832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comprar cámara y colector de firma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" y="4754880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conectividad total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" y="513892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de integración post-confirmación sin definir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2103120"/>
            <a:ext cx="5166360" cy="4160520"/>
          </a:xfrm>
          <a:prstGeom prst="roundRect">
            <a:avLst>
              <a:gd name="adj" fmla="val 1758"/>
            </a:avLst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01384" y="230428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2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01384" y="26700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97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GENÉRICOS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108960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inversión en hardware nuevo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49300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sin conexión permanente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3877056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cambio para el operador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4370832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 de quién hizo la tarea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01384" y="4754880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doble entrega del mismo envío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501384" y="5138928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2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más complejo (anulación de tareas)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73736"/>
            <a:ext cx="329184" cy="329184"/>
          </a:xfrm>
          <a:prstGeom prst="ellipse">
            <a:avLst/>
          </a:prstGeom>
          <a:solidFill>
            <a:srgbClr val="FFCE00"/>
          </a:solidFill>
          <a:ln w="22225">
            <a:solidFill>
              <a:srgbClr val="1526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73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80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abiertas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2690165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914400"/>
            <a:ext cx="269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TODAVÍA NO ESTÁ RESUELTO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falta definir antes de decidir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5175504" cy="1691640"/>
          </a:xfrm>
          <a:prstGeom prst="roundRect">
            <a:avLst>
              <a:gd name="adj" fmla="val 3784"/>
            </a:avLst>
          </a:prstGeom>
          <a:solidFill>
            <a:srgbClr val="F2F2F2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2267712"/>
            <a:ext cx="347472" cy="347472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2267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724912"/>
            <a:ext cx="4809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Mosaic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035808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sostiene el documento deprecado.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08776" y="2103120"/>
            <a:ext cx="5175504" cy="1691640"/>
          </a:xfrm>
          <a:prstGeom prst="roundRect">
            <a:avLst>
              <a:gd name="adj" fmla="val 3784"/>
            </a:avLst>
          </a:prstGeom>
          <a:solidFill>
            <a:srgbClr val="F2F2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391656" y="2267712"/>
            <a:ext cx="347472" cy="347472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2267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91656" y="2724912"/>
            <a:ext cx="4809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y Supervisor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3035808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propuesta los menciona.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4050792"/>
            <a:ext cx="5175504" cy="1691640"/>
          </a:xfrm>
          <a:prstGeom prst="roundRect">
            <a:avLst>
              <a:gd name="adj" fmla="val 3784"/>
            </a:avLst>
          </a:prstGeom>
          <a:solidFill>
            <a:srgbClr val="F2F2F2"/>
          </a:solidFill>
          <a:ln/>
        </p:spPr>
      </p:sp>
      <p:sp>
        <p:nvSpPr>
          <p:cNvPr id="21" name="Shape 19"/>
          <p:cNvSpPr/>
          <p:nvPr/>
        </p:nvSpPr>
        <p:spPr>
          <a:xfrm>
            <a:off x="960120" y="4215384"/>
            <a:ext cx="347472" cy="347472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15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72584"/>
            <a:ext cx="4809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de stock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83480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se envía la novedad y cuándo no.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08776" y="4050792"/>
            <a:ext cx="5175504" cy="1691640"/>
          </a:xfrm>
          <a:prstGeom prst="roundRect">
            <a:avLst>
              <a:gd name="adj" fmla="val 3784"/>
            </a:avLst>
          </a:prstGeom>
          <a:solidFill>
            <a:srgbClr val="F2F2F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91656" y="4215384"/>
            <a:ext cx="347472" cy="347472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91656" y="4215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391656" y="4672584"/>
            <a:ext cx="4809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Devolución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391656" y="4983480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9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circuito entra en el alcance de alguna.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3317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432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propuestas, una decisión pendiente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297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propuestas siguen en evaluación, en igualdad de condiciones. Ninguna está descartada.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39496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3949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HH SUC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734056" y="5394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6664" y="5394960"/>
            <a:ext cx="200253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26664" y="5394960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Correo Argentino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2026-08-27T20:41:20Z</dcterms:created>
  <dcterms:modified xsi:type="dcterms:W3CDTF">2026-08-27T20:41:20Z</dcterms:modified>
</cp:coreProperties>
</file>