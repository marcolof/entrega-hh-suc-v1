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331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HH SUC · CORREO ARGENTINO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7432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de piezas en sucursal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297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propuesta: una aplicación web con identificación nominal del operador, trazabilidad individual de cada gestión y control de accesos según ISO/IEC 27001.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539496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539496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53949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95728" y="5394960"/>
            <a:ext cx="158191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95728" y="539496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propuesta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142232" y="53949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34840" y="5394960"/>
            <a:ext cx="126644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5394960"/>
            <a:ext cx="126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865876" y="53949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58484" y="5394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58484" y="5394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cambia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Users\marco\AppData\Local\Temp\claude\C--Users-marco-AppData-Local-Packages-Claude-pzs8sxrjxfjjc-LocalCache-Roaming-Claude-local-agent-mode-sessions-e6b05bd4-0425-433e-b55d-c0c09521d44e-a86cce03-187b-49ab-8a35-097d078a61bd-local-64ab578a--gdt3i8\be6099eb-8f04-4ede-9b6e-4152a28721f2\scratchpad\pptxgen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1253300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84820" y="1280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960120"/>
            <a:ext cx="2540203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960120"/>
            <a:ext cx="25402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ESTA PRESENTACIÓN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5087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recorre este instructivo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4028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recorrido presenta la propuesta de solución para la entrega de piezas en sucursal: qué problema resuelve, cómo opera el proceso y qué hace falta para ponerlo en marcha.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452360" y="1508760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16952" y="1508760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cambio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52360" y="2112264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16952" y="2112264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nominal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52360" y="2715768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16952" y="2715768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entrega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452360" y="3319272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16952" y="3319272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Precondiciones y alcance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52360" y="3922776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16952" y="3922776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accesos ISO/IEC 27001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52360" y="4526280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616952" y="4526280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 respecto de hoy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Users\marco\AppData\Local\Temp\claude\C--Users-marco-AppData-Local-Packages-Claude-pzs8sxrjxfjjc-LocalCache-Roaming-Claude-local-agent-mode-sessions-e6b05bd4-0425-433e-b55d-c0c09521d44e-a86cce03-187b-49ab-8a35-097d078a61bd-local-64ab578a--gdt3i8\be6099eb-8f04-4ede-9b6e-4152a28721f2\scratchpad\pptxgen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1253300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84820" y="1280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914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está organizada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bloques, del contexto del cambio a lo que cambia en la operación.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514600"/>
            <a:ext cx="5202936" cy="1682496"/>
          </a:xfrm>
          <a:prstGeom prst="roundRect">
            <a:avLst>
              <a:gd name="adj" fmla="val 3804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2679192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3136392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3447288"/>
            <a:ext cx="48371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plantea el cambio.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81344" y="2514600"/>
            <a:ext cx="5202936" cy="1682496"/>
          </a:xfrm>
          <a:prstGeom prst="roundRect">
            <a:avLst>
              <a:gd name="adj" fmla="val 3804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364224" y="2679192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64224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64224" y="3136392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propuesta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364224" y="3447288"/>
            <a:ext cx="48371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web, usuario nominal.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77240" y="4398264"/>
            <a:ext cx="5202936" cy="1682496"/>
          </a:xfrm>
          <a:prstGeom prst="roundRect">
            <a:avLst>
              <a:gd name="adj" fmla="val 3804"/>
            </a:avLst>
          </a:prstGeom>
          <a:solidFill>
            <a:srgbClr val="F2F2F2"/>
          </a:solidFill>
          <a:ln/>
        </p:spPr>
      </p:sp>
      <p:sp>
        <p:nvSpPr>
          <p:cNvPr id="21" name="Shape 18"/>
          <p:cNvSpPr/>
          <p:nvPr/>
        </p:nvSpPr>
        <p:spPr>
          <a:xfrm>
            <a:off x="960120" y="4562856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60120" y="4562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" y="5020056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960120" y="5330952"/>
            <a:ext cx="48371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accesos y ABM.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81344" y="4398264"/>
            <a:ext cx="5202936" cy="1682496"/>
          </a:xfrm>
          <a:prstGeom prst="roundRect">
            <a:avLst>
              <a:gd name="adj" fmla="val 3804"/>
            </a:avLst>
          </a:prstGeom>
          <a:solidFill>
            <a:srgbClr val="F2F2F2"/>
          </a:solidFill>
          <a:ln/>
        </p:spPr>
      </p:sp>
      <p:sp>
        <p:nvSpPr>
          <p:cNvPr id="26" name="Shape 23"/>
          <p:cNvSpPr/>
          <p:nvPr/>
        </p:nvSpPr>
        <p:spPr>
          <a:xfrm>
            <a:off x="6364224" y="4562856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364224" y="4562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364224" y="5020056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cambia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6364224" y="5330952"/>
            <a:ext cx="48371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frente a la propuesta.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468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803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está evaluando cambiar la forma de entregar piezas en sucursal.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Users\marco\AppData\Local\Temp\claude\C--Users-marco-AppData-Local-Packages-Claude-pzs8sxrjxfjjc-LocalCache-Roaming-Claude-local-agent-mode-sessions-e6b05bd4-0425-433e-b55d-c0c09521d44e-a86cce03-187b-49ab-8a35-097d078a61bd-local-64ab578a--gdt3i8\be6099eb-8f04-4ede-9b6e-4152a28721f2\scratchpad\pptxgen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1253300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84820" y="1280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960120"/>
            <a:ext cx="1940357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960120"/>
            <a:ext cx="1940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 DEL CAMBIO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50876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gestión hoy se hace en dos sistemas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entrega se registra bajo un usuario genérico que no permite identificar al operador. Si se declara una gestión con HH que no se hizo, la novedad no llega a Track&amp;Trace y la pieza queda sin gestión de entrega.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52360" y="15087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16952" y="1508760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proceso, dos sistemas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52360" y="2157984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16952" y="2157984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individual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52360" y="2807208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16952" y="2807208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sin detección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468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803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propuesta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para PC o Tablet, con identificación individual del operador.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Users\marco\AppData\Local\Temp\claude\C--Users-marco-AppData-Local-Packages-Claude-pzs8sxrjxfjjc-LocalCache-Roaming-Claude-local-agent-mode-sessions-e6b05bd4-0425-433e-b55d-c0c09521d44e-a86cce03-187b-49ab-8a35-097d078a61bd-local-64ab578a--gdt3i8\be6099eb-8f04-4ede-9b6e-4152a28721f2\scratchpad\pptxgen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1253300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84820" y="1280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960120"/>
            <a:ext cx="2090318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960120"/>
            <a:ext cx="2090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IDENTIFICACIÓN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5087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y contraseña nominales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402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ingresa con su cuenta individual, no con un usuario compartido de sucursal. Cada gestión queda atribuida a una persona.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" y="3291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D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3291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52360" y="150876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16952" y="150876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única, nunca compartida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52360" y="210312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16952" y="21031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gestión atribuida a una persona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452360" y="269748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16952" y="269748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usuarios con unidad de negocio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52360" y="329184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16952" y="329184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roles y perfiles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Users\marco\AppData\Local\Temp\claude\C--Users-marco-AppData-Local-Packages-Claude-pzs8sxrjxfjjc-LocalCache-Roaming-Claude-local-agent-mode-sessions-e6b05bd4-0425-433e-b55d-c0c09521d44e-a86cce03-187b-49ab-8a35-097d078a61bd-local-64ab578a--gdt3i8\be6099eb-8f04-4ede-9b6e-4152a28721f2\scratchpad\pptxgen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1253300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84820" y="1280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2090318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914400"/>
            <a:ext cx="2090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6 PASOS DEL PROCESO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credencial al RDU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777240" y="2148840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2313432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7706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3081528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credenciales individuales.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79976" y="2148840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15" name="Shape 12"/>
          <p:cNvSpPr/>
          <p:nvPr/>
        </p:nvSpPr>
        <p:spPr>
          <a:xfrm>
            <a:off x="4562856" y="2313432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62856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62856" y="27706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Pieza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62856" y="3081528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ingresa y se abre el formulario.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982712" y="2148840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20" name="Shape 17"/>
          <p:cNvSpPr/>
          <p:nvPr/>
        </p:nvSpPr>
        <p:spPr>
          <a:xfrm>
            <a:off x="8165592" y="2313432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165592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165592" y="27706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165592" y="3081528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firma y texto.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77240" y="4261104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25" name="Shape 22"/>
          <p:cNvSpPr/>
          <p:nvPr/>
        </p:nvSpPr>
        <p:spPr>
          <a:xfrm>
            <a:off x="960120" y="4425696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6012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60120" y="48828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Envío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960120" y="5193792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completa y se envía.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379976" y="4261104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30" name="Shape 27"/>
          <p:cNvSpPr/>
          <p:nvPr/>
        </p:nvSpPr>
        <p:spPr>
          <a:xfrm>
            <a:off x="4562856" y="4425696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4562856" y="48828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T&amp;T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4562856" y="5193792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el estado de entrega.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982712" y="4261104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35" name="Shape 32"/>
          <p:cNvSpPr/>
          <p:nvPr/>
        </p:nvSpPr>
        <p:spPr>
          <a:xfrm>
            <a:off x="8165592" y="4425696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165592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165592" y="48828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RDU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8165592" y="5193792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como el actual.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Users\marco\AppData\Local\Temp\claude\C--Users-marco-AppData-Local-Packages-Claude-pzs8sxrjxfjjc-LocalCache-Roaming-Claude-local-agent-mode-sessions-e6b05bd4-0425-433e-b55d-c0c09521d44e-a86cce03-187b-49ab-8a35-097d078a61bd-local-64ab578a--gdt3i8\be6099eb-8f04-4ede-9b6e-4152a28721f2\scratchpad\pptxgen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1253300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84820" y="1280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Precondiciones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960120"/>
            <a:ext cx="2615184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96012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FALTA ANTES DE OPERAR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5087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Precondiciones y prerrequisitos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402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exige infraestructura de administración antes de poder usarse, y depende de hardware y conectividad en cada puesto.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52360" y="150876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16952" y="150876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usuarios por unidad de negocio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52360" y="210312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16952" y="21031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roles y perfiles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52360" y="269748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16952" y="269748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y colector de firma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452360" y="329184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16952" y="329184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permanente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Users\marco\AppData\Local\Temp\claude\C--Users-marco-AppData-Local-Packages-Claude-pzs8sxrjxfjjc-LocalCache-Roaming-Claude-local-agent-mode-sessions-e6b05bd4-0425-433e-b55d-c0c09521d44e-a86cce03-187b-49ab-8a35-097d078a61bd-local-64ab578a--gdt3i8\be6099eb-8f04-4ede-9b6e-4152a28721f2\scratchpad\pptxgen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1253300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84820" y="1280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1715414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914400"/>
            <a:ext cx="1715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ABM de usuarios y roles cumpliendo con la norma ISO/IEC 27001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659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administración de usuarios, roles y perfiles se diseña sobre los controles de gestión de accesos del Anexo A de la norma. El usuario nominal no es sólo una mejora de trazabilidad: es el requisito que la norma exige sobre la identidad.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2788920"/>
            <a:ext cx="2487168" cy="1965960"/>
          </a:xfrm>
          <a:prstGeom prst="roundRect">
            <a:avLst>
              <a:gd name="adj" fmla="val 3256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29718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2971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A.5.15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3392424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3941064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acceso por rol, con criterio de mínimo privilegio.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83864" y="2788920"/>
            <a:ext cx="2487168" cy="1965960"/>
          </a:xfrm>
          <a:prstGeom prst="roundRect">
            <a:avLst>
              <a:gd name="adj" fmla="val 3256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3666744" y="29718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666744" y="2971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A.5.16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666744" y="3392424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identidad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666744" y="3941064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única por persona, nunca compartida.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90488" y="2788920"/>
            <a:ext cx="2487168" cy="1965960"/>
          </a:xfrm>
          <a:prstGeom prst="roundRect">
            <a:avLst>
              <a:gd name="adj" fmla="val 3256"/>
            </a:avLst>
          </a:prstGeom>
          <a:solidFill>
            <a:srgbClr val="F2F2F2"/>
          </a:solidFill>
          <a:ln/>
        </p:spPr>
      </p:sp>
      <p:sp>
        <p:nvSpPr>
          <p:cNvPr id="21" name="Shape 18"/>
          <p:cNvSpPr/>
          <p:nvPr/>
        </p:nvSpPr>
        <p:spPr>
          <a:xfrm>
            <a:off x="6373368" y="29718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373368" y="2971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A.5.17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373368" y="3392424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373368" y="3941064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individuales y su ciclo de vida.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897112" y="2788920"/>
            <a:ext cx="2487168" cy="1965960"/>
          </a:xfrm>
          <a:prstGeom prst="roundRect">
            <a:avLst>
              <a:gd name="adj" fmla="val 3256"/>
            </a:avLst>
          </a:prstGeom>
          <a:solidFill>
            <a:srgbClr val="F2F2F2"/>
          </a:solidFill>
          <a:ln/>
        </p:spPr>
      </p:sp>
      <p:sp>
        <p:nvSpPr>
          <p:cNvPr id="26" name="Shape 23"/>
          <p:cNvSpPr/>
          <p:nvPr/>
        </p:nvSpPr>
        <p:spPr>
          <a:xfrm>
            <a:off x="9079992" y="29718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079992" y="2971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A.5.18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079992" y="3392424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Derechos de acceso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9079992" y="3941064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cambio y baja de permisos, registrados y auditables.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77240" y="4956048"/>
            <a:ext cx="10607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dash"/>
          </a:ln>
        </p:spPr>
      </p:sp>
      <p:sp>
        <p:nvSpPr>
          <p:cNvPr id="31" name="Text 28"/>
          <p:cNvSpPr txBox="1"/>
          <p:nvPr/>
        </p:nvSpPr>
        <p:spPr>
          <a:xfrm>
            <a:off x="978408" y="5029200"/>
            <a:ext cx="10204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</a:t>
            </a:r>
            <a:pPr indent="0" marL="0">
              <a:buNone/>
            </a:pPr>
            <a:r>
              <a:rPr lang="en-US" sz="11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genérico compartido que se usa hoy es incompatible con el control de identidad única de la norma. El ABM nominal es lo que cierra esa brecha.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468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803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cambia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de hoy frente a la que propone la solución.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Users\marco\AppData\Local\Temp\claude\C--Users-marco-AppData-Local-Packages-Claude-pzs8sxrjxfjjc-LocalCache-Roaming-Claude-local-agent-mode-sessions-e6b05bd4-0425-433e-b55d-c0c09521d44e-a86cce03-187b-49ab-8a35-097d078a61bd-local-64ab578a--gdt3i8\be6099eb-8f04-4ede-9b6e-4152a28721f2\scratchpad\pptxgen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1253300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84820" y="1280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914400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Y DESPUÉS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resuelve y qué exige a cambio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777240" y="2103120"/>
            <a:ext cx="5166360" cy="3246120"/>
          </a:xfrm>
          <a:prstGeom prst="roundRect">
            <a:avLst>
              <a:gd name="adj" fmla="val 2254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33272" y="230428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033272" y="2670048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97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GENÉRICO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33272" y="321868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de quién hizo la gestión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" y="360273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carga en dos sistemas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" y="398678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novedad puede no llegar a T&amp;T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" y="43708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compartida entre operadores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45352" y="2103120"/>
            <a:ext cx="5166360" cy="3246120"/>
          </a:xfrm>
          <a:prstGeom prst="roundRect">
            <a:avLst>
              <a:gd name="adj" fmla="val 2254"/>
            </a:avLst>
          </a:prstGeom>
          <a:solidFill>
            <a:srgbClr val="F2F2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01384" y="230428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propuesta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501384" y="2670048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97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NOMINAL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501384" y="310896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individual completa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501384" y="349300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flujo, en línea con T&amp;T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501384" y="387705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en el mismo paso de la entrega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501384" y="426110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por rol, según ISO/IEC 27001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77240" y="5532120"/>
            <a:ext cx="106344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978408" y="5614416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exige a cambio: </a:t>
            </a:r>
            <a:pPr indent="0" marL="0">
              <a:buNone/>
            </a:pPr>
            <a:r>
              <a:rPr lang="en-US" sz="11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cámara y colector de firma en cada puesto, conectividad permanente, y tener el ABM de usuarios y roles operativo antes de usar el sistema.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331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7432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propuesta para validar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297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define el proceso de entrega con identificación nominal, trazabilidad individual de cada gestión y control de accesos según ISO/IEC 27001.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539496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53949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HH SUC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734056" y="53949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26664" y="5394960"/>
            <a:ext cx="200253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26664" y="539496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Argentino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2026-09-17T20:50:09Z</dcterms:created>
  <dcterms:modified xsi:type="dcterms:W3CDTF">2026-09-17T20:50:09Z</dcterms:modified>
</cp:coreProperties>
</file>